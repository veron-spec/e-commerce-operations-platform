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E-Commerce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945A"/>
                </a:solidFill>
                <a:latin typeface="Microsoft YaHei"/>
              </a:defRPr>
            </a:pPr>
            <a:r>
              <a:t>Unified multi-platform data sync · Intelligent analytics · Automated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B0B5BC"/>
                </a:solidFill>
                <a:latin typeface="Microsoft YaHei"/>
              </a:defRPr>
            </a:pPr>
            <a:r>
              <a:t>A production-ready backend platform that aggregates e-commerce data across</a:t>
            </a:r>
            <a:br/>
            <a:r>
              <a:t>Taobao, Shopify, Shopee, Lazada, and WooCommerce — providing real-time</a:t>
            </a:r>
            <a:br/>
            <a:r>
              <a:t>dashboards, sales analytics, inventory alerts, and AI-powered automation.</a:t>
            </a:r>
            <a:br/>
            <a:br/>
            <a:r>
              <a:t>Tech Stack: FastAPI + SQLAlchemy (async) · PostgreSQL / SQLite · Redis · Celery</a:t>
            </a:r>
            <a:br/>
            <a:r>
              <a:t>Deployment: Docker Compose · Jinja2 server-side rendering</a:t>
            </a:r>
            <a:br/>
            <a:r>
              <a:t>Design: Élan Design System — sand-tone palette with gold accents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85E"/>
                </a:solidFill>
                <a:latin typeface="Microsoft YaHei"/>
              </a:defRPr>
            </a:pPr>
            <a:r>
              <a:t>Community Edition  v1.0  |  Élan Design System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📊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2CA"/>
                </a:solidFill>
                <a:latin typeface="Microsoft YaHei"/>
              </a:defRPr>
            </a:pPr>
            <a:r>
              <a:t>📈 Sales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📦 Inventory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2CA"/>
                </a:solidFill>
                <a:latin typeface="Microsoft YaHei"/>
              </a:defRPr>
            </a:pPr>
            <a:r>
              <a:t>🏪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🤖 Automation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2CA"/>
                </a:solidFill>
                <a:latin typeface="Microsoft YaHei"/>
              </a:defRPr>
            </a:pPr>
            <a:r>
              <a:t>🎯 Product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💬 Auto Reply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D2CA"/>
                </a:solidFill>
                <a:latin typeface="Microsoft YaHei"/>
              </a:defRPr>
            </a:pPr>
            <a:r>
              <a:t>💡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📋 Retrospectives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The Challenge &amp;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Why this platform? — Real problems faced by every cross-platform e-commerce seller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54864" cy="777240"/>
          </a:xfrm>
          <a:prstGeom prst="rect">
            <a:avLst/>
          </a:prstGeom>
          <a:solidFill>
            <a:srgbClr val="C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8872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532"/>
                </a:solidFill>
                <a:latin typeface="Microsoft YaHei"/>
              </a:defRPr>
            </a:pPr>
            <a:r>
              <a:t>🔴 Fragmented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990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Each platform has its own admin panel — no unified view of orders, products, or customers across Taobao, Shopify, Shopee, and Lazada.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75688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75688"/>
            <a:ext cx="54864" cy="777240"/>
          </a:xfrm>
          <a:prstGeom prst="rect">
            <a:avLst/>
          </a:prstGeom>
          <a:solidFill>
            <a:srgbClr val="C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21408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532"/>
                </a:solidFill>
                <a:latin typeface="Microsoft YaHei"/>
              </a:defRPr>
            </a:pPr>
            <a:r>
              <a:t>🔴 Manual Data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Export → Excel merge → manual reports. Takes hours, error-prone, stale by the time it's 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08376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08376"/>
            <a:ext cx="54864" cy="777240"/>
          </a:xfrm>
          <a:prstGeom prst="rect">
            <a:avLst/>
          </a:prstGeom>
          <a:solidFill>
            <a:srgbClr val="C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5409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532"/>
                </a:solidFill>
                <a:latin typeface="Microsoft YaHei"/>
              </a:defRPr>
            </a:pPr>
            <a:r>
              <a:t>🔴 No Real-Time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4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Stock shortages, refund spikes, sales drops discovered too late — after damage has been done.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41064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941064"/>
            <a:ext cx="54864" cy="777240"/>
          </a:xfrm>
          <a:prstGeom prst="rect">
            <a:avLst/>
          </a:prstGeom>
          <a:solidFill>
            <a:srgbClr val="C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86784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532"/>
                </a:solidFill>
                <a:latin typeface="Microsoft YaHei"/>
              </a:defRPr>
            </a:pPr>
            <a:r>
              <a:t>🔴 High AI Integration Barrier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970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Smart suggestions, auto-reply, analytics require complex multi-API integrations beyond most sellers.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43000"/>
            <a:ext cx="5577840" cy="4023360"/>
          </a:xfrm>
          <a:prstGeom prst="rect">
            <a:avLst/>
          </a:prstGeom>
          <a:solidFill>
            <a:srgbClr val="1A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8945A"/>
                </a:solidFill>
                <a:latin typeface="Microsoft YaHei"/>
              </a:defRPr>
            </a:pPr>
            <a:r>
              <a:t>✨  Platform Value Proposition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▸ Unified Data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9568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6D2CA"/>
                </a:solidFill>
                <a:latin typeface="Microsoft YaHei"/>
              </a:defRPr>
            </a:pPr>
            <a:r>
              <a:t>Adapter pattern connects 5 platforms into one dashboard. All metrics, one screen.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423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▸ Auto Sync (30min)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42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6D2CA"/>
                </a:solidFill>
                <a:latin typeface="Microsoft YaHei"/>
              </a:defRPr>
            </a:pPr>
            <a:r>
              <a:t>Celery-powered incremental sync every 30 minutes with automatic retry.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089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▸ Smart Analytics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284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6D2CA"/>
                </a:solidFill>
                <a:latin typeface="Microsoft YaHei"/>
              </a:defRPr>
            </a:pPr>
            <a:r>
              <a:t>Sales trends, inventory alerts, category distribution — real-time.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7947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▸ 4 Automation Pillars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142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6D2CA"/>
                </a:solidFill>
                <a:latin typeface="Microsoft YaHei"/>
              </a:defRPr>
            </a:pPr>
            <a:r>
              <a:t>Product selection · Auto reply · Suggestions · Retrospectives — AI-driven.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4805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▸ Enterprise-Grade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000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D6D2CA"/>
                </a:solidFill>
                <a:latin typeface="Microsoft YaHei"/>
              </a:defRPr>
            </a:pPr>
            <a:r>
              <a:t>JWT · bcrypt · Fernet encryption · Rate limiting · CSRF ·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Technology Stack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Production-grade foundations · Adapter pattern · Dual-layer cache · Data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737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737360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A2532"/>
                </a:solidFill>
                <a:latin typeface="Microsoft YaHei"/>
              </a:defRPr>
            </a:pPr>
            <a:r>
              <a:t>🔌 Adapter Layer</a:t>
            </a:r>
            <a:br/>
            <a:r>
              <a:t>Taobao/Shopify/Shopee</a:t>
            </a:r>
            <a:br/>
            <a:r>
              <a:t>Lazada/WooCommerce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8945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097280"/>
            <a:ext cx="1737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097280"/>
            <a:ext cx="1737360" cy="36576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120700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A2532"/>
                </a:solidFill>
                <a:latin typeface="Microsoft YaHei"/>
              </a:defRPr>
            </a:pPr>
            <a:r>
              <a:t>🔄 Sync Orchestrator</a:t>
            </a:r>
            <a:br/>
            <a:r>
              <a:t>Celery periodic sync</a:t>
            </a:r>
            <a:br/>
            <a:r>
              <a:t>Incremental + retry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8945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1737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1737360" cy="36576"/>
          </a:xfrm>
          <a:prstGeom prst="rect">
            <a:avLst/>
          </a:prstGeom>
          <a:solidFill>
            <a:srgbClr val="5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20700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A2532"/>
                </a:solidFill>
                <a:latin typeface="Microsoft YaHei"/>
              </a:defRPr>
            </a:pPr>
            <a:r>
              <a:t>💾 Storage Layer</a:t>
            </a:r>
            <a:br/>
            <a:r>
              <a:t>PostgreSQL / SQLite</a:t>
            </a:r>
            <a:br/>
            <a:r>
              <a:t>Redis · Celery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8945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1737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1737360" cy="36576"/>
          </a:xfrm>
          <a:prstGeom prst="rect">
            <a:avLst/>
          </a:prstGeom>
          <a:solidFill>
            <a:srgbClr val="B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20700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A2532"/>
                </a:solidFill>
                <a:latin typeface="Microsoft YaHei"/>
              </a:defRPr>
            </a:pPr>
            <a:r>
              <a:t>📊 Analytics Engine</a:t>
            </a:r>
            <a:br/>
            <a:r>
              <a:t>Sales · Inventory · Trends</a:t>
            </a:r>
            <a:br/>
            <a:r>
              <a:t>Aggregation +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8945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097280"/>
            <a:ext cx="1737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097280"/>
            <a:ext cx="1737360" cy="36576"/>
          </a:xfrm>
          <a:prstGeom prst="rect">
            <a:avLst/>
          </a:prstGeom>
          <a:solidFill>
            <a:srgbClr val="C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20700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A2532"/>
                </a:solidFill>
                <a:latin typeface="Microsoft YaHei"/>
              </a:defRPr>
            </a:pPr>
            <a:r>
              <a:t>🤖 Automation</a:t>
            </a:r>
            <a:br/>
            <a:r>
              <a:t>Selection · Reply ·</a:t>
            </a:r>
            <a:br/>
            <a:r>
              <a:t>Suggest · Retrospect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8945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097280"/>
            <a:ext cx="1737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1097280"/>
            <a:ext cx="1737360" cy="36576"/>
          </a:xfrm>
          <a:prstGeom prst="rect">
            <a:avLst/>
          </a:prstGeom>
          <a:solidFill>
            <a:srgbClr val="1A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31552" y="120700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A2532"/>
                </a:solidFill>
                <a:latin typeface="Microsoft YaHei"/>
              </a:defRPr>
            </a:pPr>
            <a:r>
              <a:t>🖥️ Presentation</a:t>
            </a:r>
            <a:br/>
            <a:r>
              <a:t>Élan · Chart.js</a:t>
            </a:r>
            <a:br/>
            <a:r>
              <a:t>Jinja2 SSR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1460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514600"/>
            <a:ext cx="2697480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Microsoft YaHei"/>
              </a:defRPr>
            </a:pPr>
            <a: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1635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Python 3.14 · FastAPI · SQLAlchemy 2.0 (async) · Alembic · Celery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251460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2514600"/>
            <a:ext cx="2697480" cy="36576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26060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7A9A"/>
                </a:solidFill>
                <a:latin typeface="Microsoft YaHei"/>
              </a:defRPr>
            </a:pPr>
            <a: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281635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PostgreSQL 16 (prod) / SQLite (dev) · Redis 7 (cache + MQ)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51460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2514600"/>
            <a:ext cx="2697480" cy="36576"/>
          </a:xfrm>
          <a:prstGeom prst="rect">
            <a:avLst/>
          </a:prstGeom>
          <a:solidFill>
            <a:srgbClr val="5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26060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8A6A"/>
                </a:solidFill>
                <a:latin typeface="Microsoft YaHei"/>
              </a:defRPr>
            </a:pPr>
            <a: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81635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Jinja2 SSR · Chart.js 4.4 · Bootstrap Icons · i18n CN/EN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251460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2514600"/>
            <a:ext cx="2697480" cy="36576"/>
          </a:xfrm>
          <a:prstGeom prst="rect">
            <a:avLst/>
          </a:prstGeom>
          <a:solidFill>
            <a:srgbClr val="B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26060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A4A"/>
                </a:solidFill>
                <a:latin typeface="Microsoft YaHei"/>
              </a:defRPr>
            </a:pPr>
            <a:r>
              <a:t>DevOps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281635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Docker Compose · Nginx · Cloudflare Tunnel · Fernet encryption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52044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defRPr sz="1400" b="1">
                <a:solidFill>
                  <a:srgbClr val="1A2532"/>
                </a:solidFill>
                <a:latin typeface="Microsoft YaHei"/>
              </a:defRPr>
            </a:pPr>
            <a:r>
              <a:t>Architecture Highlights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🔹 Adapter Pattern — PlatformAdapter abstract base + AdapterFactory. Add a new platform with 5 method implementations, zero core code changes. Unified models (UnifiedOrder / UnifiedProduct / UnifiedCustomer) shield platform differences.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🔹 Dual-Layer Cache — L1 in-memory (30s TTL / LRU) + L2 Redis, managed via @cached decorator. Dashboard data cached for 6 hours to reduce recomputation.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🔹 Data Isolation — Three-tier model: User → Store → Entity. APIs inject identity via Depends(get_current_user), users only see their own stores.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🔹 Rotatable Encryption — Fernet (AES-128-CBC + HMAC-SHA256) for API key storage, zero-downtime key rotation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Multi-Platform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Adapter pattern — one interface, five e-commerce platforms unified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1488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148840" cy="45720"/>
          </a:xfrm>
          <a:prstGeom prst="rect">
            <a:avLst/>
          </a:prstGeom>
          <a:solidFill>
            <a:srgbClr val="1A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Taobao</a:t>
            </a:r>
            <a:br/>
            <a:r>
              <a:t>(淘宝)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19293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OAuth 2.0 authorization</a:t>
            </a:r>
            <a:br/>
            <a:r>
              <a:t>HMAC-SHA256 API signing</a:t>
            </a:r>
            <a:br/>
            <a:r>
              <a:t>Products / Orders /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097280"/>
            <a:ext cx="21488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097280"/>
            <a:ext cx="2148840" cy="45720"/>
          </a:xfrm>
          <a:prstGeom prst="rect">
            <a:avLst/>
          </a:prstGeom>
          <a:solidFill>
            <a:srgbClr val="5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26187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Shopify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783080"/>
            <a:ext cx="19293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REST Admin API</a:t>
            </a:r>
            <a:br/>
            <a:r>
              <a:t>Full CRUD operations</a:t>
            </a:r>
            <a:br/>
            <a:r>
              <a:t>Real-time inventory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097280"/>
            <a:ext cx="21488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097280"/>
            <a:ext cx="2148840" cy="4572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126187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Shopee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783080"/>
            <a:ext cx="19293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Partner API</a:t>
            </a:r>
            <a:br/>
            <a:r>
              <a:t>SE Asia localization</a:t>
            </a:r>
            <a:br/>
            <a:r>
              <a:t>Per-store data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097280"/>
            <a:ext cx="21488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59" y="1097280"/>
            <a:ext cx="2148840" cy="45720"/>
          </a:xfrm>
          <a:prstGeom prst="rect">
            <a:avLst/>
          </a:prstGeom>
          <a:solidFill>
            <a:srgbClr val="B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7" y="126187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Lazada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7" y="1783080"/>
            <a:ext cx="19293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Open Platform</a:t>
            </a:r>
            <a:br/>
            <a:r>
              <a:t>Multi-country support</a:t>
            </a:r>
            <a:br/>
            <a:r>
              <a:t>Category mapping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097280"/>
            <a:ext cx="21488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1097280"/>
            <a:ext cx="2148840" cy="45720"/>
          </a:xfrm>
          <a:prstGeom prst="rect">
            <a:avLst/>
          </a:prstGeom>
          <a:solidFill>
            <a:srgbClr val="C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1261872"/>
            <a:ext cx="1929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WooCommerce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1783080"/>
            <a:ext cx="192938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WordPress REST API</a:t>
            </a:r>
            <a:br/>
            <a:r>
              <a:t>Self-hosted data source</a:t>
            </a:r>
            <a:br/>
            <a:r>
              <a:t>Flexible extensions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2044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defRPr sz="1400" b="1">
                <a:solidFill>
                  <a:srgbClr val="1A2532"/>
                </a:solidFill>
                <a:latin typeface="Microsoft YaHei"/>
              </a:defRPr>
            </a:pPr>
            <a:r>
              <a:t>How the Adapter Pattern Works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4A5058"/>
                </a:solidFill>
                <a:latin typeface="Microsoft YaHei"/>
              </a:defRPr>
            </a:pPr>
            <a:r>
              <a:t>All platforms inherit the same PlatformAdapter abstract base class implementing five core methods: get_orders(), get_products(), get_inventory(), sync_data(), get_analytics(). The AdapterFactory dynamically creates the correct adapter based on store.platform_type.</a:t>
            </a:r>
          </a:p>
          <a:p>
            <a:pPr algn="l">
              <a:spcAft>
                <a:spcPts val="3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Adding a new platform: ① Subclass PlatformAdapter  ② Implement 5 methods  ③ Register — zero changes to core code.</a:t>
            </a:r>
          </a:p>
          <a:p>
            <a:pPr algn="l">
              <a:spcAft>
                <a:spcPts val="3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SyncOrchestrator manages order/product/customer sync with incremental (updated_since), automatic pagination, and 3x retry on failure. Sync tracked in sync_jobs table.</a:t>
            </a:r>
          </a:p>
          <a:p>
            <a:pPr algn="l">
              <a:spcAft>
                <a:spcPts val="3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Unified data models — UnifiedOrder (amount/status/line items), UnifiedProduct (SKU/stock/price), UnifiedCustomer (email/address/order history) — abstract away platform differences.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Dashboard — Business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Home page: all critical KPIs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6583680" cy="37267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0972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  <a:defRPr sz="1500" b="1">
                <a:solidFill>
                  <a:srgbClr val="1A2532"/>
                </a:solidFill>
                <a:latin typeface="Microsoft YaHei"/>
              </a:defRPr>
            </a:pPr>
            <a:r>
              <a:t>Dashboard Features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📊 KPI Cards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Total Sales, Orders, Avg. Order Value, Total Products — updated in real time with MoM change indicators.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📈 Sales Trend Chart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30-day sales curve rendered with Chart.js. Hover for daily breakdown.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🥧 Category Distribution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Pie chart showing revenue share by product category.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🏆 Top 10 Products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Ranked by revenue with sales volume and amount. Pinpoint star performers.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⚠️ Stock Alerts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Auto-detected low-stock products highlighted in red. Click through to inventory.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🔄 Data Sync Status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Last sync time displayed in header. One-click refresh button.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🔗 Cross-Page Navigation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Dashboard cards link to Orders, Inventory, Sales pages for deep-dive analysis.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📱 Desktop Optimized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Layout adapts gracefully from 1366px to 1920px — no horizontal scrolling.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Sales Analytics &amp; Inventory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Multi-dimensional trends + intelligent stock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120640" cy="2898569"/>
          </a:xfrm>
          <a:prstGeom prst="rect">
            <a:avLst/>
          </a:prstGeom>
        </p:spPr>
      </p:pic>
      <p:pic>
        <p:nvPicPr>
          <p:cNvPr id="7" name="Picture 6" descr="ppt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97280"/>
            <a:ext cx="5120640" cy="2898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947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  <a:defRPr sz="1400" b="1">
                <a:solidFill>
                  <a:srgbClr val="1A2532"/>
                </a:solidFill>
                <a:latin typeface="Microsoft YaHei"/>
              </a:defRPr>
            </a:pPr>
            <a:r>
              <a:t>Core Capabilities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▸ Sales Analytics: Three time windows (7/30/90 days) — Total Revenue, Order Count, Avg. Order Value, MoM Growth. Trend chart backed by daily detail table (date/revenue/orders/discount). Filter by platform.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▸ Inventory Management: Total/Low/Out-of-stock stat cards. Category pie chart for visual distribution. Alert list auto-filters products below configurable threshold.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5A7A9A"/>
                </a:solidFill>
                <a:latin typeface="Microsoft YaHei"/>
              </a:defRPr>
            </a:pPr>
            <a:r>
              <a:t>💡 Close the Ops Loop: Dashboard daily check → spot sales decline → adjust marketing → inventory restock → measure impact next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Order Management &amp; Store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Cross-platform order tracking · One-click store 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120640" cy="2898569"/>
          </a:xfrm>
          <a:prstGeom prst="rect">
            <a:avLst/>
          </a:prstGeom>
        </p:spPr>
      </p:pic>
      <p:pic>
        <p:nvPicPr>
          <p:cNvPr id="7" name="Picture 6" descr="ppt_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97280"/>
            <a:ext cx="5120640" cy="2898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947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  <a:defRPr sz="1400" b="1">
                <a:solidFill>
                  <a:srgbClr val="1A2532"/>
                </a:solidFill>
                <a:latin typeface="Microsoft YaHei"/>
              </a:defRPr>
            </a:pPr>
            <a:r>
              <a:t>Core Capabilities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▸ Orders: Cross-platform unified order list — status filter (All/Paid/Refunded/Pending), keyword search by order ID or buyer email, paginated (20/page). No more logging into each platform separately.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4A5058"/>
                </a:solidFill>
                <a:latin typeface="Microsoft YaHei"/>
              </a:defRPr>
            </a:pPr>
            <a:r>
              <a:t>▸ Stores: Add Taobao/Shopify/Shopee/Lazada stores with App Key, App Secret, and URL. Status indicators show connection health. Taobao OAuth 2.0 flow pre-built.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5A7A9A"/>
                </a:solidFill>
                <a:latin typeface="Microsoft YaHei"/>
              </a:defRPr>
            </a:pPr>
            <a:r>
              <a:t>💡 Getting started: Register → Add store → Auto-sync → Dashboard populates → Explore automation. Takes just 5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Automation Rules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Condition-triggered workflows — your business, automated 24/7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943600" cy="3364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05156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defRPr sz="1400" b="1">
                <a:solidFill>
                  <a:srgbClr val="1A2532"/>
                </a:solidFill>
                <a:latin typeface="Microsoft YaHei"/>
              </a:defRPr>
            </a:pPr>
            <a:r>
              <a:t>Engine Details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Trigger Modes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Scheduled (cron expression) and event-driven (real-time evaluation on data changes).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Condition Evaluation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8 operators including between/in. Supports inventory, daily revenue, order count.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Rule Templates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Built-in: Low Stock Alert (qty &lt; 10), Sales Spike (&gt; ¥10,000/day). One-click create.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Action System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Notify (toast) + Log (audit trail). Extensible to auto-list/unlist, auto-price, coupon dispatch.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Status Monitoring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Active rules + today's executions shown on stat cards. Each rule independently toggled.</a:t>
            </a:r>
          </a:p>
          <a:p>
            <a:pPr algn="l">
              <a:spcAft>
                <a:spcPts val="100"/>
              </a:spcAft>
              <a:defRPr sz="1050" b="1">
                <a:solidFill>
                  <a:srgbClr val="2D3A4A"/>
                </a:solidFill>
                <a:latin typeface="Microsoft YaHei"/>
              </a:defRPr>
            </a:pPr>
            <a:r>
              <a:t>▸ Audit &amp; Compliance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6E685E"/>
                </a:solidFill>
                <a:latin typeface="Microsoft YaHei"/>
              </a:defRPr>
            </a:pPr>
            <a:r>
              <a:t>  Every rule creation/activation/modification logged to audit trail with timestamp and user 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Product Selection &amp; Auto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AI-powered product discovery + intelligent customer service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product_sel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120640" cy="2898569"/>
          </a:xfrm>
          <a:prstGeom prst="rect">
            <a:avLst/>
          </a:prstGeom>
        </p:spPr>
      </p:pic>
      <p:pic>
        <p:nvPicPr>
          <p:cNvPr id="7" name="Picture 6" descr="ppt_auto_re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97280"/>
            <a:ext cx="5120640" cy="2898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49039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Product Selection</a:t>
            </a:r>
          </a:p>
          <a:p>
            <a:pPr algn="l">
              <a:spcAft>
                <a:spcPts val="300"/>
              </a:spcAft>
              <a:defRPr sz="950" b="0">
                <a:solidFill>
                  <a:srgbClr val="4A5058"/>
                </a:solidFill>
                <a:latin typeface="Microsoft YaHei"/>
              </a:defRPr>
            </a:pPr>
            <a:r>
              <a:t>Composite scoring (0-100) from sales data, margin analysis, and market trends. Auto-scan identifies trending products from 30-day sales. Review workflow: pending → approved/rejected. Stats: total, pending, approved, avg score.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Auto Reply</a:t>
            </a:r>
          </a:p>
          <a:p>
            <a:pPr algn="l">
              <a:spcAft>
                <a:spcPts val="300"/>
              </a:spcAft>
              <a:defRPr sz="950" b="0">
                <a:solidFill>
                  <a:srgbClr val="4A5058"/>
                </a:solidFill>
                <a:latin typeface="Microsoft YaHei"/>
              </a:defRPr>
            </a:pPr>
            <a:r>
              <a:t>Three matching modes: contains/exact/regex. Priority ordering — higher priority fires first. Built-in test tool: type a mock message, see which rule matches. Stats: total rules, enabled, total matches.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Operations Suggestions &amp; Retrospectives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AI-driven decision support + periodic business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120640" cy="2898569"/>
          </a:xfrm>
          <a:prstGeom prst="rect">
            <a:avLst/>
          </a:prstGeom>
        </p:spPr>
      </p:pic>
      <p:pic>
        <p:nvPicPr>
          <p:cNvPr id="7" name="Picture 6" descr="ppt_retrospec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097280"/>
            <a:ext cx="5120640" cy="2898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49039"/>
            <a:ext cx="11247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Operations Suggestions</a:t>
            </a:r>
          </a:p>
          <a:p>
            <a:pPr algn="l">
              <a:spcAft>
                <a:spcPts val="300"/>
              </a:spcAft>
              <a:defRPr sz="950" b="0">
                <a:solidFill>
                  <a:srgbClr val="4A5058"/>
                </a:solidFill>
                <a:latin typeface="Microsoft YaHei"/>
              </a:defRPr>
            </a:pPr>
            <a:r>
              <a:t>Four types: Restock alerts / Price adjustments / Marketing campaigns / Inventory optimization. AI analyzes recent data, generates priority-tagged (High/Med/Low) suggestions. Apply or Dismiss with adoption rate tracking.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Retrospectives</a:t>
            </a:r>
          </a:p>
          <a:p>
            <a:pPr algn="l">
              <a:spcAft>
                <a:spcPts val="300"/>
              </a:spcAft>
              <a:defRPr sz="950" b="0">
                <a:solidFill>
                  <a:srgbClr val="4A5058"/>
                </a:solidFill>
                <a:latin typeface="Microsoft YaHei"/>
              </a:defRPr>
            </a:pPr>
            <a:r>
              <a:t>Weekly/Monthly/Quarterly cycles. Auto-generates standardized reports with KPIs (revenue, orders, AOV, refund rate) and MoM comparisons. AI insights + action items. Lifecycle: Draft → Published → Archived.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Settings · Audit Logs ·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Configuration, compliance, and defense in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2795048"/>
          </a:xfrm>
          <a:prstGeom prst="rect">
            <a:avLst/>
          </a:prstGeom>
        </p:spPr>
      </p:pic>
      <p:pic>
        <p:nvPicPr>
          <p:cNvPr id="7" name="Picture 6" descr="ppt_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51560"/>
            <a:ext cx="4937760" cy="2795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49039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System Settings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4A5058"/>
                </a:solidFill>
                <a:latin typeface="Microsoft YaHei"/>
              </a:defRPr>
            </a:pPr>
            <a:r>
              <a:t>System name, sync interval (15/30/60 min), report cache TTL (1/3/6/12 h). API key management — OpenAI, Claude, DeepSeek, Qwen, ERNIE — all encrypted at rest with Fernet.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Audit Logs</a:t>
            </a:r>
          </a:p>
          <a:p>
            <a:pPr algn="l">
              <a:spcAft>
                <a:spcPts val="200"/>
              </a:spcAft>
              <a:defRPr sz="950" b="0">
                <a:solidFill>
                  <a:srgbClr val="4A5058"/>
                </a:solidFill>
                <a:latin typeface="Microsoft YaHei"/>
              </a:defRPr>
            </a:pPr>
            <a:r>
              <a:t>Every action (create/update/delete/login/register) logged with timestamp, resource ID, detail, IP. Filter by action/resource type. Paginated for compliance audits.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749039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Security Protections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JWT stateless auth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HttpOnly + SameSite=Lax cookies, configurable expiry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bcrypt password hashing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Built-in strength validation, no plaintext storage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Comprehensive rate limiting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Login 5/min, register 10/min, API 60/min per user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Fernet encryption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AES-128-CBC + HMAC-SHA256 for API keys, key rotation support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Security headers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X-Content-Type-Options=nosniff, X-Frame-Options=DENY, HSTS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CSRF protection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Double-submit cookie pattern, all POST/PUT/DELETE routes enforced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Session management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Token expiry configurable (1h / 24h / 7d), refresh on activity</a:t>
            </a:r>
          </a:p>
          <a:p>
            <a:pPr algn="l">
              <a:spcAft>
                <a:spcPts val="100"/>
              </a:spcAft>
              <a:defRPr sz="950" b="1">
                <a:solidFill>
                  <a:srgbClr val="5A8A6A"/>
                </a:solidFill>
                <a:latin typeface="Microsoft YaHei"/>
              </a:defRPr>
            </a:pPr>
            <a:r>
              <a:t>✓  Full audit trail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E685E"/>
                </a:solidFill>
                <a:latin typeface="Microsoft YaHei"/>
              </a:defRPr>
            </a:pPr>
            <a:r>
              <a:t>    All sensitive operations logged for forensics and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Pro Module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Community Edition free + pluggable Pro modules — extensible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029200" cy="4937760"/>
          </a:xfrm>
          <a:prstGeom prst="rect">
            <a:avLst/>
          </a:prstGeom>
          <a:solidFill>
            <a:srgbClr val="1A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🧩  Community Edition (Free)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945A"/>
                </a:solidFill>
                <a:latin typeface="Microsoft YaHei"/>
              </a:defRPr>
            </a:pPr>
            <a:r>
              <a:t>Open-source, ready to use out of the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Real-time Dashboard (KPI + trends + categories)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Order Management (cross-platform + filter + page)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44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Inventory Management (distribution + alerts)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Store Management (5 platforms + status)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02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Automation Rules Engine (templates + toggle)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Operation Audit Logs + System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61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Encrypted API Key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i18n (CN/EN) + Élan Design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9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✓  JWT Auth + Rate Limiting + Security Headers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8945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394960" cy="45720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532"/>
                </a:solidFill>
                <a:latin typeface="Microsoft YaHei"/>
              </a:defRPr>
            </a:pPr>
            <a:r>
              <a:t>⭐  Pro Modules (Commercial)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828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85E"/>
                </a:solidFill>
                <a:latin typeface="Microsoft YaHei"/>
              </a:defRPr>
            </a:pPr>
            <a:r>
              <a:t>Advanced features on top of Community Edition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Microsoft YaHei"/>
              </a:defRPr>
            </a:pPr>
            <a:r>
              <a:t>📊  Sales Analytics 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7/30/90 day multi-dim trends + MoM growth + daily detail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71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Microsoft YaHei"/>
              </a:defRPr>
            </a:pPr>
            <a:r>
              <a:t>🎯  Product Selection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200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Composite score 0-100 + auto-scan + review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Microsoft YaHei"/>
              </a:defRPr>
            </a:pPr>
            <a:r>
              <a:t>💬  Auto Reply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3 match modes + priority + test tool + usage stats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60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Microsoft YaHei"/>
              </a:defRPr>
            </a:pPr>
            <a:r>
              <a:t>💡  Operations Suggestions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389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4 suggestion types + AI generation + adoption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Microsoft YaHei"/>
              </a:defRPr>
            </a:pPr>
            <a:r>
              <a:t>📋  Retrospectives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983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Weekly/monthly/quarterly + MoM + AI insights + action 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49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3A4A"/>
                </a:solidFill>
                <a:latin typeface="Microsoft YaHei"/>
              </a:defRPr>
            </a:pPr>
            <a:r>
              <a:t>🔗  Taobao OAuth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577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Browser-based authorization, self-service store binding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Quick Start — 5 Steps to Go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From registration to full operation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103120" cy="36576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945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Sign Up /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Register or use demo login (demo@example.com / Demo1234!). Auto-redirect to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1430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143000"/>
            <a:ext cx="2103120" cy="36576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7A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Add a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874519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Stores → Add Store → Select platform. Enter App Key / Secret / URL. Auto-sync begins on first connection.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1430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143000"/>
            <a:ext cx="2103120" cy="36576"/>
          </a:xfrm>
          <a:prstGeom prst="rect">
            <a:avLst/>
          </a:prstGeom>
          <a:solidFill>
            <a:srgbClr val="5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A8A6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Sync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874519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Wait 1-2 min for initial sync. Dashboard auto-populates. Adjust sync interval in Settings (15/30/60 min).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1430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143000"/>
            <a:ext cx="2103120" cy="36576"/>
          </a:xfrm>
          <a:prstGeom prst="rect">
            <a:avLst/>
          </a:prstGeom>
          <a:solidFill>
            <a:srgbClr val="B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8A4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Configure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874519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Create stock alert / sales spike rules. Set auto-reply keywords. Generate suggestions &amp; retrospectives.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1430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143000"/>
            <a:ext cx="2103120" cy="36576"/>
          </a:xfrm>
          <a:prstGeom prst="rect">
            <a:avLst/>
          </a:prstGeom>
          <a:solidFill>
            <a:srgbClr val="1A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53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5819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Daily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874519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E685E"/>
                </a:solidFill>
                <a:latin typeface="Microsoft YaHei"/>
              </a:defRPr>
            </a:pPr>
            <a:r>
              <a:t>Monitor dashboard → analyze sales → manage inventory. Run retrospectives to guide strategy. Refine automations.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solidFill>
            <a:srgbClr val="1A2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8862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500"/>
              </a:spcAft>
              <a:defRPr sz="1300" b="1">
                <a:solidFill>
                  <a:srgbClr val="B8945A"/>
                </a:solidFill>
                <a:latin typeface="Microsoft YaHei"/>
              </a:defRPr>
            </a:pPr>
            <a:r>
              <a:t>Tips for Best Experience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💡  Use Chrome / Edge for optimal Chart.js rendering and responsive layout.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💡  Data sync runs every 30 min by default. Adjust to 15 or 60 min in Settings. Celery auto-retries on failure.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💡  On first use, click "Generate Suggestions" and "Generate Retrospective" to establish baseline analysis data.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💡  Configure AI provider keys (OpenAI, Claude, DeepSeek, Qwen, ERNIE) to power suggestion/analysis features.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D6D2CA"/>
                </a:solidFill>
                <a:latin typeface="Microsoft YaHei"/>
              </a:defRPr>
            </a:pPr>
            <a:r>
              <a:t>💡  Use the built-in demo account for evaluation — it comes pre-loaded with sample sales data and configured stores.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2532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85E"/>
                </a:solidFill>
                <a:latin typeface="Microsoft YaHei"/>
              </a:defRPr>
            </a:pPr>
            <a:r>
              <a:t>Delivered + Planned — continuous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515600" cy="18288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" cy="411480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25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2532"/>
                </a:solidFill>
                <a:latin typeface="Microsoft YaHei"/>
              </a:defRPr>
            </a:pPr>
            <a:r>
              <a:t>✅ Phase 1: MVP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252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E685E"/>
                </a:solidFill>
                <a:latin typeface="Microsoft YaHei"/>
              </a:defRPr>
            </a:pPr>
            <a:r>
              <a:t>FastAPI + 7 tables + 5 platform adapters + analytics engine + Celery 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54864" cy="411480"/>
          </a:xfrm>
          <a:prstGeom prst="rect">
            <a:avLst/>
          </a:prstGeom>
          <a:solidFill>
            <a:srgbClr val="5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282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2532"/>
                </a:solidFill>
                <a:latin typeface="Microsoft YaHei"/>
              </a:defRPr>
            </a:pPr>
            <a:r>
              <a:t>✅ Phase 2: 4 Automation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2821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E685E"/>
                </a:solidFill>
                <a:latin typeface="Microsoft YaHei"/>
              </a:defRPr>
            </a:pPr>
            <a:r>
              <a:t>Product Selection + Auto Reply + Suggestions + Retrospectives — full automation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945A"/>
                </a:solidFill>
                <a:latin typeface="Microsoft YaHei"/>
              </a:defRPr>
            </a:pPr>
            <a:r>
              <a:t>————  PLANNED  ————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54864" cy="91440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066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🔜 Phase 3: Operations Deepening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443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P0: Product editing (price/listing/title) → P0: Taobao OAuth flow → P1: Auto-action expansion (price/listing/coupon) → P1: Refund/return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54864" cy="914400"/>
          </a:xfrm>
          <a:prstGeom prst="rect">
            <a:avLst/>
          </a:prstGeom>
          <a:solidFill>
            <a:srgbClr val="B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581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🔜 Phase 4: Intelligence Enhancement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959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P2: Profit analytics (commissions/insurance/fees for true net profit) → P2: Inventory prediction (consumption-rate-based forecasting) → P2: Notification channels (DingTalk/WeCom/SMS)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79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54879"/>
            <a:ext cx="54864" cy="914400"/>
          </a:xfrm>
          <a:prstGeom prst="rect">
            <a:avLst/>
          </a:prstGeom>
          <a:solidFill>
            <a:srgbClr val="C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0974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532"/>
                </a:solidFill>
                <a:latin typeface="Microsoft YaHei"/>
              </a:defRPr>
            </a:pPr>
            <a:r>
              <a:t>🔜 Phase 5: Enterprise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47487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85E"/>
                </a:solidFill>
                <a:latin typeface="Microsoft YaHei"/>
              </a:defRPr>
            </a:pPr>
            <a:r>
              <a:t>P2: HSM integration → P3: Core module test coverage → P3: Kubernetes deployment → P3: Multi-tenant SaaS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89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945A"/>
                </a:solidFill>
                <a:latin typeface="Microsoft YaHei"/>
              </a:defRPr>
            </a:pPr>
            <a:r>
              <a:t>E-Commerce Operations Platform  ·  Community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600" b="1">
                <a:solidFill>
                  <a:srgbClr val="B8945A"/>
                </a:solidFill>
                <a:latin typeface="Microsoft YaHei"/>
              </a:defRPr>
            </a:pPr>
            <a:r>
              <a:t>Resources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GitHub    https://github.com/veron-spec/E-commerce-Operations-Plugins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Tech      FastAPI · SQLAlchemy 2.0 · PostgreSQL 16 · Redis 7 · Celery · Chart.js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Design    Élan Design System — Elegance in every pixel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License   Community Edition — Open Source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4A5058"/>
                </a:solidFill>
                <a:latin typeface="Microsoft YaHei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B8945A"/>
                </a:solidFill>
                <a:latin typeface="Microsoft YaHei"/>
              </a:defRPr>
            </a:pPr>
            <a:r>
              <a:t>Star / Fork / Issues welcome — let's make e-commerce operations smarter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