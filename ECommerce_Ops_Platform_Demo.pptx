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321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25FDF-12FC-4F8D-98DA-52DE095D6125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41A55-58C8-424E-9A0C-B4ED58F24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7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D41A55-58C8-424E-9A0C-B4ED58F243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16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91840"/>
          </a:xfrm>
          <a:prstGeom prst="roundRect">
            <a:avLst>
              <a:gd name="adj" fmla="val 8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E-Commerce Operations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017520"/>
            <a:ext cx="3200400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1DE9A"/>
                </a:solidFill>
                <a:latin typeface="Calibri"/>
              </a:defRPr>
            </a:pPr>
            <a:r>
              <a:t>Multi-Platform Data Synchronization  ·  Intelligent Analytics  ·  Automated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E99A8"/>
                </a:solidFill>
                <a:latin typeface="Calibri"/>
              </a:defRPr>
            </a:pPr>
            <a:r>
              <a:t>Community Edition  —  Built with FastAPI + SQLAlchemy + PostgreSQL + Redis + Celery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D3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75488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D3A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75488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D3A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Presentation · Platform Demonstration ·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Platform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9A8"/>
                </a:solidFill>
                <a:latin typeface="Calibri"/>
              </a:defRPr>
            </a:pPr>
            <a:r>
              <a:t>Follow the steps below to explore every feature of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41734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Access the platform</a:t>
            </a:r>
            <a:br/>
            <a:r>
              <a:t>with demo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799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59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59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Real-time KPIs &amp;</a:t>
            </a:r>
            <a:br/>
            <a:r>
              <a:t>sales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18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8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Stores &amp;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8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Manage multi-platform</a:t>
            </a:r>
            <a:br/>
            <a:r>
              <a:t>store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8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37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7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7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Stock tracking &amp;</a:t>
            </a:r>
            <a:br/>
            <a:r>
              <a:t>low-stock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7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56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6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6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Create condition-</a:t>
            </a:r>
            <a:br/>
            <a:r>
              <a:t>triggered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6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75" y="20116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35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35" y="3108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Product selection, AI</a:t>
            </a:r>
            <a:br/>
            <a:r>
              <a:t>suggestions &amp; auto-reply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4572000"/>
            <a:ext cx="9418320" cy="137160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9E3C"/>
                </a:solidFill>
                <a:latin typeface="Calibri"/>
              </a:defRPr>
            </a:pPr>
            <a:r>
              <a:t>⚡ Quick 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1DA"/>
                </a:solidFill>
                <a:latin typeface="Calibri"/>
              </a:defRPr>
            </a:pPr>
            <a:r>
              <a:t>Open http://localhost:8100  →  Login with demo@example.com / Demo1234!  →  Explore all features from the navigation sidebar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0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Login &amp;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84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38340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t>Login Page — JWT-based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2005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657725"/>
            <a:ext cx="4846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Demo credentials pre-configured.</a:t>
            </a:r>
            <a:br>
              <a:rPr sz="1400" dirty="0"/>
            </a:br>
            <a:r>
              <a:rPr sz="1400" dirty="0"/>
              <a:t>Email: demo@example.com</a:t>
            </a:r>
            <a:br>
              <a:rPr sz="1400" dirty="0"/>
            </a:br>
            <a:r>
              <a:rPr sz="1400" dirty="0"/>
              <a:t>Password: Demo1234!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Authentication Flow: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1.  User enters email + password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2.  Server validates against </a:t>
            </a:r>
            <a:r>
              <a:rPr sz="1400" dirty="0" err="1"/>
              <a:t>bcrypt</a:t>
            </a:r>
            <a:r>
              <a:rPr sz="1400" dirty="0"/>
              <a:t> hash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3.  JWT token issued (1-hour expiry)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4.  Token stored in HTTP-only cookie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5.  All API requests authenticated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 via cookie or Authorization header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Security Features: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Password strength validation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Token bucket rate limiting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 (5 req/min for login)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HSTS + X-Frame-Options headers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CORS whitelist enforcement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Operation 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1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Dashboard — Real-Time Business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1323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38820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0560" y="529111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rPr dirty="0"/>
              <a:t>Main Dashboard — centralized business command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40705"/>
            <a:ext cx="68580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7260" y="5834868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All KPIs update in real-time with data synced across connected stores.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74720" cy="7772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9E3C"/>
                </a:solidFill>
                <a:latin typeface="Calibri"/>
              </a:defRPr>
            </a:pPr>
            <a:r>
              <a:t>📊  KPI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Total sales, order count,</a:t>
            </a:r>
            <a:br/>
            <a:r>
              <a:t>avg. order value, active stores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31720"/>
            <a:ext cx="3474720" cy="7772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9E3C"/>
                </a:solidFill>
                <a:latin typeface="Calibri"/>
              </a:defRPr>
            </a:pPr>
            <a:r>
              <a:t>📈  Sales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7 / 30 / 90 day trends</a:t>
            </a:r>
            <a:br/>
            <a:r>
              <a:t>with daily breakdown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74720" cy="7772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9E3C"/>
                </a:solidFill>
                <a:latin typeface="Calibri"/>
              </a:defRPr>
            </a:pPr>
            <a:r>
              <a:t>🥧  Category Dist.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Product category distribution</a:t>
            </a:r>
            <a:br/>
            <a:r>
              <a:t>visualization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69080"/>
            <a:ext cx="3474720" cy="7772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9E3C"/>
                </a:solidFill>
                <a:latin typeface="Calibri"/>
              </a:defRPr>
            </a:pPr>
            <a:r>
              <a:t>🏆  Top 10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Best-selling products ranked</a:t>
            </a:r>
            <a:br/>
            <a:r>
              <a:t>by revenue &amp; volume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937760"/>
            <a:ext cx="3474720" cy="7772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9E3C"/>
                </a:solidFill>
                <a:latin typeface="Calibri"/>
              </a:defRPr>
            </a:pPr>
            <a:r>
              <a:t>⚠️  Inventory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257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Low-stock warnings</a:t>
            </a:r>
            <a:br/>
            <a:r>
              <a:t>for immediate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2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Store Management — Multi-Platform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8160" y="182880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55286"/>
            <a:ext cx="5303520" cy="3002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2837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rPr dirty="0"/>
              <a:t>Store Management Interface — add &amp; manage store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82586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623" y="5148415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Connect stores from 5 platforms. Each platform has its own auth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1554480" cy="10058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Taobao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ABA4"/>
                </a:solidFill>
                <a:latin typeface="Calibri"/>
              </a:defRPr>
            </a:pPr>
            <a:r>
              <a:t>OAuth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t>App Key + 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651760"/>
            <a:ext cx="1554480" cy="10058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Shopify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71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ABA4"/>
                </a:solidFill>
                <a:latin typeface="Calibri"/>
              </a:defRPr>
            </a:pPr>
            <a:r>
              <a:t>API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t>API Key +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840480"/>
            <a:ext cx="1554480" cy="10058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WooCommerce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ABA4"/>
                </a:solidFill>
                <a:latin typeface="Calibri"/>
              </a:defRPr>
            </a:pPr>
            <a:r>
              <a:t>OAuth 1.0a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t>Consumer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31920"/>
            <a:ext cx="1554480" cy="10058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Shopee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519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ABA4"/>
                </a:solidFill>
                <a:latin typeface="Calibri"/>
              </a:defRPr>
            </a:pPr>
            <a:r>
              <a:t>Signed Req.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t>Partner + Shop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651760"/>
            <a:ext cx="1554480" cy="100584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Lazada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71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ABA4"/>
                </a:solidFill>
                <a:latin typeface="Calibri"/>
              </a:defRPr>
            </a:pPr>
            <a:r>
              <a:t>OAuth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t>App Key + Region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255955"/>
            <a:ext cx="4846320" cy="961965"/>
          </a:xfrm>
          <a:prstGeom prst="roundRect">
            <a:avLst>
              <a:gd name="adj" fmla="val 4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534924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Platform Adapter Pattern: Adding a new platform requires only 5 method implementations + factory registration. All platforms expose a unified interface.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3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Orders &amp; Inventory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846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35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rPr dirty="0"/>
              <a:t>Orders — cross-platform order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2005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657725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View orders from all connected stores in one unified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pt_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8468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35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t>Inventory — stock classification &amp;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12005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657725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/>
              <a:t>Inventory is automatically categorized: Normal / Low / Out-of-Stock.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48929"/>
            <a:ext cx="1051560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Unified order view across all platforms</a:t>
            </a:r>
          </a:p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Real-time inventory sync from connected stores</a:t>
            </a:r>
          </a:p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Automatic stock-level classification (Normal / Low / Out-of-Stock)</a:t>
            </a:r>
          </a:p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Category distribution visualization</a:t>
            </a:r>
          </a:p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Low-stock alert lists for proactive restocking</a:t>
            </a:r>
          </a:p>
          <a:p>
            <a:pPr>
              <a:spcAft>
                <a:spcPts val="2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 Order status tracking &amp;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800" y="6583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4 OF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Automation Rules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002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1084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rPr dirty="0"/>
              <a:t>Automation Rules — create &amp; manage condition-triggered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6631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81203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Rules evaluate continuously and trigger actions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4846320" cy="457200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5696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9E3C"/>
                </a:solidFill>
                <a:latin typeface="Calibri"/>
              </a:defRPr>
            </a:pPr>
            <a:r>
              <a:rPr dirty="0"/>
              <a:t>⚙️  How Automation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88085"/>
            <a:ext cx="438912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1. Define a trigger condition: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Inventory drops below threshold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Sales spike detected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Time-scheduled action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2. Set the action: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Send alert notification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Generate report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Trigger sync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3. Toggle ON / OFF: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Rules only fire when enabled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• Each rule runs independently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Example: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"If inventory &lt; 10 units →</a:t>
            </a:r>
          </a:p>
          <a:p>
            <a:pPr>
              <a:spcAft>
                <a:spcPts val="200"/>
              </a:spcAft>
              <a:defRPr sz="12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 send restock alert"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5 OF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411480" cy="411480"/>
          </a:xfrm>
          <a:prstGeom prst="roundRect">
            <a:avLst>
              <a:gd name="adj" fmla="val 10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D3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Smart Features — Product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2743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002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1084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rPr dirty="0"/>
              <a:t>Sales Analytics — multi-dimensional trend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6631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812030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7/30/90 day views with MoM growth and category aggregation.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4846320" cy="489204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51788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9E3C"/>
                </a:solidFill>
                <a:latin typeface="Calibri"/>
              </a:defRPr>
            </a:pPr>
            <a:r>
              <a:rPr dirty="0"/>
              <a:t>🎯  Scoring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6580" y="1801326"/>
            <a:ext cx="438912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Composite Score = weighted blend of: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📈  Sales Velocity (30%)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How fast the product sells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💰  Profit Margin (25%)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Unit profitability analysis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📊  Market Trend (20%)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Category growth trajectory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⭐  Review Score (15%)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Customer feedback rating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🔄  Inventory Health (10%)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Stock turnover efficiency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Review Workflow: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 Pending  →  Approved / Rejected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99A8"/>
                </a:solidFill>
                <a:latin typeface="Calibri"/>
              </a:defRPr>
            </a:pPr>
            <a:r>
              <a:t>STEP 6 OF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Operations Suggestions &amp; Auto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9A8"/>
                </a:solidFill>
                <a:latin typeface="Calibri"/>
              </a:defRPr>
            </a:pPr>
            <a:r>
              <a:t>Pro module features — intelligent automation powered by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60704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pt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029200" cy="2846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38340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t>Operations Suggestions — AI-generated optimization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2005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657725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dirty="0"/>
              <a:t>Each suggestion includes reasoning, expected impact, and adopt/ignore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pt_auto_re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846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38340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t>Auto Reply — keyword-based automated customer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612005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657725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t>Support for contains / exact / regex matching modes.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990442"/>
            <a:ext cx="50292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🤖  AI Suggestions: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Restock alerts based on velocity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Pricing optimization recommendations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Marketing campaign suggestions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Inventory tuning guidance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Adopt / Ignore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40" y="4990442"/>
            <a:ext cx="50292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💬  Auto Reply: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  • Keyword matching: contains / exact / regex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  • Test matching before activation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  • Usage statistics &amp; response rates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  • Multi-language support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/>
              <a:t>  • Easy enable/disable toggle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Settings, Security &amp; API Key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p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3002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3771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DE9A"/>
                </a:solidFill>
                <a:latin typeface="Calibri"/>
              </a:defRPr>
            </a:pPr>
            <a:r>
              <a:t>Settings — third-party API key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6631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812030"/>
            <a:ext cx="512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AES-encrypted storage for OpenAI, Claude, DeepSeek &amp; other AI provider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087454"/>
            <a:ext cx="4846320" cy="539496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9E3C"/>
                </a:solidFill>
                <a:latin typeface="Calibri"/>
              </a:defRPr>
            </a:pPr>
            <a:r>
              <a:rPr dirty="0"/>
              <a:t>🔒  Security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527671"/>
            <a:ext cx="4389120" cy="487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Authentication: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JWT with 1-hour token expiry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</a:t>
            </a:r>
            <a:r>
              <a:rPr sz="1400" dirty="0" err="1"/>
              <a:t>bcrypt</a:t>
            </a:r>
            <a:r>
              <a:rPr sz="1400" dirty="0"/>
              <a:t> password hashing (12 rounds)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Password strength validation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Encryption: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Fernet (AES-128-CBC + HMAC-SHA256)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PBKDF2 key derivation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Rotatable encryption keys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Zero-downtime key migration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API Protection: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Token bucket rate limiter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CORS whitelist enforcement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Request body size limits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Full audit operation logs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endParaRPr sz="1400" dirty="0"/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Third-Party Keys: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Encrypted at rest (AES)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Provider: OpenAI / Claude / DeepSeek</a:t>
            </a:r>
          </a:p>
          <a:p>
            <a:pPr>
              <a:spcAft>
                <a:spcPts val="100"/>
              </a:spcAft>
              <a:defRPr sz="110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  • Enable/disable per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9A8"/>
                </a:solidFill>
                <a:latin typeface="Calibri"/>
              </a:defRPr>
            </a:pPr>
            <a:r>
              <a:rPr dirty="0"/>
              <a:t>Built for scalability, maintainability, and production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🔄  Platform Adapter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Unified </a:t>
            </a:r>
            <a:r>
              <a:rPr sz="1400" dirty="0" err="1"/>
              <a:t>PlatformAdapter</a:t>
            </a:r>
            <a:r>
              <a:rPr sz="1400" dirty="0"/>
              <a:t> interface. Each platform (Taobao, Shopify, etc.) implements: </a:t>
            </a:r>
            <a:r>
              <a:rPr sz="1400" dirty="0" err="1"/>
              <a:t>get_orders</a:t>
            </a:r>
            <a:r>
              <a:rPr sz="1400" dirty="0"/>
              <a:t>(), </a:t>
            </a:r>
            <a:r>
              <a:rPr sz="1400" dirty="0" err="1"/>
              <a:t>get_products</a:t>
            </a:r>
            <a:r>
              <a:rPr sz="1400" dirty="0"/>
              <a:t>(), </a:t>
            </a:r>
            <a:r>
              <a:rPr sz="1400" dirty="0" err="1"/>
              <a:t>get_inventory</a:t>
            </a:r>
            <a:r>
              <a:rPr sz="1400" dirty="0"/>
              <a:t>(), </a:t>
            </a:r>
            <a:r>
              <a:rPr sz="1400" dirty="0" err="1"/>
              <a:t>sync_data</a:t>
            </a:r>
            <a:r>
              <a:rPr sz="1400" dirty="0"/>
              <a:t>(), </a:t>
            </a:r>
            <a:r>
              <a:rPr sz="1400" dirty="0" err="1"/>
              <a:t>get_analytics</a:t>
            </a:r>
            <a:r>
              <a:rPr sz="1400" dirty="0"/>
              <a:t>(). Factory registration enables zero-code platform addition.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🗄️  Dual-Layer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L1: In-memory cache (30s TTL, LRU eviction). L2: Redis cache. Automatic management via @cached decorator. Reduces database load by 80%+ for frequent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🔒  Data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Three-tier permission model: User → Store → Entity. Every query filters through this hierarchy. Integration-tested for security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🌐  i18n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/>
              <a:t>Translation JSON files for Chinese &amp; English. Global _(text) function in Jinja2 templates. Auto-detection via Cookie + Accept-Language header.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698480" cy="9144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9E3C"/>
                </a:solidFill>
                <a:latin typeface="Calibri"/>
              </a:defRPr>
            </a:pPr>
            <a:r>
              <a:t>⚡  Async-First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1DA"/>
                </a:solidFill>
                <a:latin typeface="Calibri"/>
              </a:defRPr>
            </a:pPr>
            <a:r>
              <a:rPr sz="1400"/>
              <a:t>SQLAlchemy 2.0 async session, FastAPI async endpoints, Celery for background tasks. Non-blocking I/O throughout the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 Module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9A8"/>
                </a:solidFill>
                <a:latin typeface="Calibri"/>
              </a:defRPr>
            </a:pPr>
            <a:r>
              <a:rPr dirty="0"/>
              <a:t>Community Edition + Commercial Add-ons — extensible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0853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2EA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🧩  Community Edition (Free)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38912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Dashboard &amp; KPIs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Order management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Inventory tracking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Store management (5 platforms)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Automation rules engine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Operation audit logs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Settings &amp; key management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i18n: Chinese / English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JWT auth + rate limiting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✓ Docker one-click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F9E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5029200" cy="54864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9E3C"/>
                </a:solidFill>
                <a:latin typeface="Calibri"/>
              </a:defRPr>
            </a:pPr>
            <a:r>
              <a:t>⭐  Pro Modules (Commercial)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68880"/>
            <a:ext cx="438912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📊 Advanced Sales Analytics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📦 Data-driven Product Selection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🤖 Intelligent Auto Reply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💡 AI Operations Suggestions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📋 Automated Retrospectives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🔗 Taobao OAuth Integration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endParaRPr sz="1600" dirty="0"/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Loaded via: try/except </a:t>
            </a:r>
            <a:r>
              <a:rPr sz="1600" dirty="0" err="1"/>
              <a:t>ImportError</a:t>
            </a:r>
            <a:endParaRPr sz="1600" dirty="0"/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No code changes needed to upgrade</a:t>
            </a:r>
          </a:p>
          <a:p>
            <a:pPr>
              <a:spcAft>
                <a:spcPts val="300"/>
              </a:spcAft>
              <a:defRPr sz="130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Graceful degradation when absent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760720"/>
            <a:ext cx="7589520" cy="548640"/>
          </a:xfrm>
          <a:prstGeom prst="roundRect">
            <a:avLst>
              <a:gd name="adj" fmla="val 5000"/>
            </a:avLst>
          </a:prstGeom>
          <a:solidFill>
            <a:srgbClr val="12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5753130"/>
            <a:ext cx="7132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DE9A"/>
                </a:solidFill>
                <a:latin typeface="Calibri"/>
              </a:defRPr>
            </a:pPr>
            <a:r>
              <a:rPr dirty="0"/>
              <a:t>💡</a:t>
            </a:r>
            <a:r>
              <a:rPr sz="1400" dirty="0"/>
              <a:t>  The Community Edition runs fully standalone. Pro modules activate automatically when the pro/ package is detected — zero configuration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Technology Stack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0876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 dirty="0"/>
              <a:t>Python 3.14, </a:t>
            </a:r>
            <a:r>
              <a:rPr sz="1600" dirty="0" err="1"/>
              <a:t>FastAPI</a:t>
            </a:r>
            <a:r>
              <a:rPr sz="1600" dirty="0"/>
              <a:t>, </a:t>
            </a:r>
            <a:r>
              <a:rPr sz="1600" dirty="0" err="1"/>
              <a:t>SQLAlchemy</a:t>
            </a:r>
            <a:r>
              <a:rPr sz="1600" dirty="0"/>
              <a:t> 2.0 (async), Alembic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/>
              <a:t>PostgreSQL 16 (production) / SQLite (development), Redis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8892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/>
              <a:t>Jinja2 templates, Élan CSS design system, Chart.js, Vanilla JS (no frameworks)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/>
              <a:t>JWT (python-jose), bcrypt, Fernet encryption (AES-128-CBC + HMAC-SHA256)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Async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6908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/>
              <a:t>Celery + Redis broker for data sync &amp; report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709160"/>
            <a:ext cx="868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600"/>
              <a:t>Docker Compose: Nginx + API + Celery Worker + PostgreSQL + 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D3A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49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t>pytest + httpx (ASGI async) with comprehensive integration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BA4"/>
                </a:solidFill>
                <a:latin typeface="Calibri"/>
              </a:defRPr>
            </a:pPr>
            <a:r>
              <a:t>🐳  One-Click Production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cp backend/.</a:t>
            </a:r>
            <a:r>
              <a:rPr sz="1400" dirty="0" err="1"/>
              <a:t>env.example</a:t>
            </a:r>
            <a:r>
              <a:rPr sz="1400" dirty="0"/>
              <a:t> backend/.env  →  docker compose -f docker/docker-</a:t>
            </a:r>
            <a:r>
              <a:rPr sz="1400" dirty="0" err="1"/>
              <a:t>compose.yml</a:t>
            </a:r>
            <a:r>
              <a:rPr sz="1400" dirty="0"/>
              <a:t> up -d  →  open http://localhost:8000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"/>
            <a:ext cx="12191695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99A8"/>
                </a:solidFill>
                <a:latin typeface="Calibri"/>
              </a:defRPr>
            </a:pPr>
            <a:r>
              <a:rPr dirty="0"/>
              <a:t>Comprehensive test suite covering all layers of the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 dirty="0"/>
              <a:t>Registration, login, logout,</a:t>
            </a:r>
            <a:br>
              <a:rPr sz="1400" dirty="0"/>
            </a:br>
            <a:r>
              <a:rPr sz="1400" dirty="0"/>
              <a:t>token refresh, rate limiting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630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40" y="146304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Store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01168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CRUD operations,</a:t>
            </a:r>
            <a:br>
              <a:rPr sz="1400"/>
            </a:br>
            <a:r>
              <a:rPr sz="1400"/>
              <a:t>authorization, sync triggers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4630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146304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01168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Order listing, filtering,</a:t>
            </a:r>
            <a:br>
              <a:rPr sz="1400"/>
            </a:br>
            <a:r>
              <a:rPr sz="1400"/>
              <a:t>status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146304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Product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01168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Scoring, review workflow,</a:t>
            </a:r>
            <a:br>
              <a:rPr sz="1400"/>
            </a:br>
            <a:r>
              <a:rPr sz="1400"/>
              <a:t>approve/reject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630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92640" y="146304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01168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Rule creation, evaluation,</a:t>
            </a:r>
            <a:br>
              <a:rPr sz="1400"/>
            </a:br>
            <a:r>
              <a:rPr sz="1400"/>
              <a:t>enable/disable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66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56616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Auto 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148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Keyword matching,</a:t>
            </a:r>
            <a:br>
              <a:rPr sz="1400"/>
            </a:br>
            <a:r>
              <a:rPr sz="1400"/>
              <a:t>rule evaluation, stats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3566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834640" y="356616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718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AI Suggestions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1148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Generation pipeline,</a:t>
            </a:r>
            <a:br>
              <a:rPr sz="1400"/>
            </a:br>
            <a:r>
              <a:rPr sz="1400"/>
              <a:t>adopt/ignore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3566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20640" y="356616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Retrospectives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114800"/>
            <a:ext cx="1828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Create, publish, archive,</a:t>
            </a:r>
            <a:br>
              <a:rPr sz="1400"/>
            </a:br>
            <a:r>
              <a:rPr sz="1400"/>
              <a:t>insight generation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566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06640" y="356616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438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114800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Crypto, key rotation,</a:t>
            </a:r>
            <a:br>
              <a:rPr sz="1400"/>
            </a:br>
            <a:r>
              <a:rPr sz="1400"/>
              <a:t>encryption/decryption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356616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92640" y="3566160"/>
            <a:ext cx="2103120" cy="36576"/>
          </a:xfrm>
          <a:prstGeom prst="rect">
            <a:avLst/>
          </a:prstGeom>
          <a:solidFill>
            <a:srgbClr val="3AC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298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  Platform Adapters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114800"/>
            <a:ext cx="182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1DA"/>
                </a:solidFill>
                <a:latin typeface="Calibri"/>
              </a:defRPr>
            </a:pPr>
            <a:r>
              <a:rPr sz="1400"/>
              <a:t>Shopify, WooCommerce</a:t>
            </a:r>
            <a:br>
              <a:rPr sz="1400"/>
            </a:br>
            <a:r>
              <a:rPr sz="1400"/>
              <a:t>adapter implementations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99A8"/>
                </a:solidFill>
                <a:latin typeface="Calibri"/>
              </a:defRPr>
            </a:pPr>
            <a:r>
              <a:t>Framework: pytest + httpx (ASGI async)  |  Coverage: API, core logic, adapters, security, and utilities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"/>
            <a:ext cx="12191695" cy="73152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521726" y="1422760"/>
            <a:ext cx="9418320" cy="4114800"/>
          </a:xfrm>
          <a:prstGeom prst="roundRect">
            <a:avLst>
              <a:gd name="adj" fmla="val 8000"/>
            </a:avLst>
          </a:prstGeom>
          <a:solidFill>
            <a:srgbClr val="1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560320"/>
            <a:ext cx="3200400" cy="45720"/>
          </a:xfrm>
          <a:prstGeom prst="rect">
            <a:avLst/>
          </a:prstGeom>
          <a:solidFill>
            <a:srgbClr val="CF9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DE9A"/>
                </a:solidFill>
                <a:latin typeface="Calibri"/>
              </a:defRPr>
            </a:pPr>
            <a:r>
              <a:rPr dirty="0"/>
              <a:t>E-Commerce Operations Platform  ·  Community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9E3C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0871" y="3383280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1DA"/>
                </a:solidFill>
                <a:latin typeface="Calibri"/>
              </a:defRPr>
            </a:pPr>
            <a:r>
              <a:rPr dirty="0"/>
              <a:t>https://github.com/veron-spec</a:t>
            </a:r>
            <a:r>
              <a:t>/E-commerce-Operations-Pl</a:t>
            </a:r>
            <a:r>
              <a:rPr lang="en-US" altLang="zh-CN"/>
              <a:t>atform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9E3C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3485" y="389378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1DA"/>
                </a:solidFill>
                <a:latin typeface="Calibri"/>
              </a:defRPr>
            </a:pPr>
            <a:r>
              <a:t>FastAPI · SQLAlchemy · PostgreSQL · Redis · Celery ·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9E3C"/>
                </a:solidFill>
                <a:latin typeface="Calibri"/>
              </a:defRPr>
            </a:pPr>
            <a:r>
              <a:t>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1886" y="4389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1DA"/>
                </a:solidFill>
                <a:latin typeface="Calibri"/>
              </a:defRPr>
            </a:pPr>
            <a:r>
              <a:t>Community Edition — 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9E3C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1886" y="4876345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1DA"/>
                </a:solidFill>
                <a:latin typeface="Calibri"/>
              </a:defRPr>
            </a:pPr>
            <a:r>
              <a:t>E-Commerce Operations Platform Team</a:t>
            </a:r>
          </a:p>
        </p:txBody>
      </p:sp>
      <p:pic>
        <p:nvPicPr>
          <p:cNvPr id="16" name="Picture 15" descr="pp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064" y="3675008"/>
            <a:ext cx="3109644" cy="1760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880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E99A8"/>
                </a:solidFill>
                <a:latin typeface="Calibri"/>
              </a:defRPr>
            </a:pPr>
            <a:r>
              <a:rPr dirty="0"/>
              <a:t>Built with Python, </a:t>
            </a:r>
            <a:r>
              <a:rPr dirty="0" err="1"/>
              <a:t>FastAPI</a:t>
            </a:r>
            <a:r>
              <a:rPr dirty="0"/>
              <a:t>, and modern web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1615</Words>
  <Application>Microsoft Office PowerPoint</Application>
  <PresentationFormat>宽屏</PresentationFormat>
  <Paragraphs>286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xiyuan guan</cp:lastModifiedBy>
  <cp:revision>4</cp:revision>
  <dcterms:created xsi:type="dcterms:W3CDTF">2013-01-27T09:14:16Z</dcterms:created>
  <dcterms:modified xsi:type="dcterms:W3CDTF">2026-05-29T01:59:39Z</dcterms:modified>
  <cp:category/>
</cp:coreProperties>
</file>